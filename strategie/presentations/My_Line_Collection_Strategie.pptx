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1.png"/><Relationship Id="rId6" Type="http://schemas.openxmlformats.org/officeDocument/2006/relationships/image" Target="../media/image-3-6.png"/><Relationship Id="rId7" Type="http://schemas.openxmlformats.org/officeDocument/2006/relationships/image" Target="../media/image-3-2.png"/><Relationship Id="rId8" Type="http://schemas.openxmlformats.org/officeDocument/2006/relationships/image" Target="../media/image-3-4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Line Collection — Stratégie de lancement et de croissance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Sacs et accessoires pour femmes · France d’abord, Europe ensuite · produits neufs · décisions fondées sur les données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1/12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91840" y="1965960"/>
            <a:ext cx="2560320" cy="86868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MY LINE COLLECTION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principal : identité, confiance, conversion, données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2468880" cy="82296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Vinted · Leboncoin — tester produits, prix, visuels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2468880" cy="82296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sociaux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TikTok · Facebook — contenu réutilisable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1188720"/>
            <a:ext cx="2468880" cy="82296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Publicité payante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Google · TikTok · Pinterest — petits budgets, puis montée selon les résultats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0" y="2651760"/>
            <a:ext cx="2468880" cy="822960"/>
          </a:xfrm>
          <a:prstGeom prst="rect">
            <a:avLst/>
          </a:prstGeom>
          <a:solidFill>
            <a:srgbClr val="F7F2EA"/>
          </a:solidFill>
          <a:ln w="12700">
            <a:solidFill>
              <a:srgbClr val="9C8B78"/>
            </a:solidFill>
            <a:prstDash val="dash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tard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Shop · affiliation · créateurs (commissions incluses dans la marge)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 flipH="1" flipV="1">
            <a:off x="2926080" y="1600200"/>
            <a:ext cx="365760" cy="68580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2926080" y="2560320"/>
            <a:ext cx="365760" cy="50292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5852160" y="1600200"/>
            <a:ext cx="365760" cy="68580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52160" y="2560320"/>
            <a:ext cx="365760" cy="50292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572000" y="2834640"/>
            <a:ext cx="0" cy="594360"/>
          </a:xfrm>
          <a:prstGeom prst="line">
            <a:avLst/>
          </a:prstGeom>
          <a:noFill/>
          <a:ln w="19050">
            <a:solidFill>
              <a:srgbClr val="6D1F2F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2011680" y="3429000"/>
            <a:ext cx="51206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D1F2F"/>
            </a:solidFill>
            <a:prstDash val="dash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Sous-stratégie distincte : REPRISE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 sac → crédit → achat neuf  |  sacs repris → seconde main séparée (jamais dans le catalogue neuf)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343400"/>
            <a:ext cx="1627632" cy="36576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121408" y="4343400"/>
            <a:ext cx="1627632" cy="36576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85616" y="4343400"/>
            <a:ext cx="1627632" cy="36576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9824" y="4343400"/>
            <a:ext cx="1627632" cy="36576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Réapprovisionner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14032" y="4343400"/>
            <a:ext cx="1627632" cy="36576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 le marché avant d’investir dans le stock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Comptes et annonces pilotés de façon centralisée ; chaque test garde sa traçabilité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2/12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023360" cy="64008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central (tableur)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· stocks · prix · commandes · KPI par produit / canal / angle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57400"/>
            <a:ext cx="1965960" cy="146304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principal marque (S01–S05, A01…)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complémentaires : un segment ou angle par espace, si les règles / statut pro le permettent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514600" y="2057400"/>
            <a:ext cx="1965960" cy="146304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LEBONCOIN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principal marque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Espaces complémentaires : mêmes principes, annonces non dupliquées, stocks synchronisés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63040" y="1783080"/>
            <a:ext cx="0" cy="27432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474720" y="1783080"/>
            <a:ext cx="0" cy="27432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57200" y="3703320"/>
            <a:ext cx="4023360" cy="548640"/>
          </a:xfrm>
          <a:prstGeom prst="rect">
            <a:avLst/>
          </a:prstGeom>
          <a:solidFill>
            <a:srgbClr val="F7F2EA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: confiance et conversion · Instagram : désir · TikTok : découverte · Facebook : relais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731520" cy="64008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0" y="1143000"/>
            <a:ext cx="2743200" cy="438912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A — </a:t>
            </a:r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sac élégant pour compléter une tenue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 flipV="1">
            <a:off x="5577840" y="1362456"/>
            <a:ext cx="365760" cy="283464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5943600" y="1645920"/>
            <a:ext cx="2743200" cy="438912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B — </a:t>
            </a:r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sac pratique pour transporter ses essentiels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77840" y="1645920"/>
            <a:ext cx="365760" cy="219456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5943600" y="2148840"/>
            <a:ext cx="2743200" cy="438912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 — </a:t>
            </a:r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sac polyvalent pour le quotidien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77840" y="1645920"/>
            <a:ext cx="365760" cy="722376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4846320" y="2834640"/>
            <a:ext cx="1234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vues, impressions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0" y="2834640"/>
            <a:ext cx="12344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Intérêt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visites, questions, paniers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89520" y="2834640"/>
            <a:ext cx="1097280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commandes, marge, coût pub, retours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0760" y="3200400"/>
            <a:ext cx="13716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52360" y="3200400"/>
            <a:ext cx="13716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25" name="Text 23"/>
          <p:cNvSpPr txBox="1"/>
          <p:nvPr/>
        </p:nvSpPr>
        <p:spPr>
          <a:xfrm>
            <a:off x="4846320" y="370332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vues sans commande ≠ succès. Les angles sont des hypothèses à tester ; prix = concurrence + coût complet (achat, transport, taxes, frais, retours).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quoi ressemblent les annonces de test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Maquettes illustratives (ce ne sont pas les interfaces réelles) : chaque photo porte un angle marketing précis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3/12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931920" cy="274320"/>
          </a:xfrm>
          <a:prstGeom prst="rect">
            <a:avLst/>
          </a:prstGeom>
          <a:solidFill>
            <a:srgbClr val="9C8B78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VINTED — fiche article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08760"/>
            <a:ext cx="2148840" cy="1828800"/>
          </a:xfrm>
          <a:prstGeom prst="rect">
            <a:avLst/>
          </a:prstGeom>
          <a:solidFill>
            <a:srgbClr val="E6D9C6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de face, fond clair (ÉLÉGANCE)</a:t>
            </a:r>
            <a:endParaRPr lang="en-US" sz="800" dirty="0"/>
          </a:p>
        </p:txBody>
      </p:sp>
      <p:pic>
        <p:nvPicPr>
          <p:cNvPr id="10" name="Image 0" descr="img/clos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08760"/>
            <a:ext cx="2148840" cy="148132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88920" y="1508760"/>
            <a:ext cx="1508760" cy="566928"/>
          </a:xfrm>
          <a:prstGeom prst="rect">
            <a:avLst/>
          </a:prstGeom>
          <a:solidFill>
            <a:srgbClr val="F7F2EA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3383280" y="15087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2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ouvert + essentiels (PRATIQUE)</a:t>
            </a:r>
            <a:endParaRPr lang="en-US" sz="750" dirty="0"/>
          </a:p>
        </p:txBody>
      </p:sp>
      <p:pic>
        <p:nvPicPr>
          <p:cNvPr id="13" name="Image 1" descr="img/op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834640" y="1527048"/>
            <a:ext cx="502920" cy="5303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788920" y="2130552"/>
            <a:ext cx="1508760" cy="566928"/>
          </a:xfrm>
          <a:prstGeom prst="rect">
            <a:avLst/>
          </a:prstGeom>
          <a:solidFill>
            <a:srgbClr val="F7F2EA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3383280" y="213055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3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plan finition (QUALITÉ)</a:t>
            </a:r>
            <a:endParaRPr lang="en-US" sz="750" dirty="0"/>
          </a:p>
        </p:txBody>
      </p:sp>
      <p:pic>
        <p:nvPicPr>
          <p:cNvPr id="16" name="Image 2" descr="img/detai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834640" y="2148840"/>
            <a:ext cx="502920" cy="5303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88920" y="2752344"/>
            <a:ext cx="1508760" cy="566928"/>
          </a:xfrm>
          <a:prstGeom prst="rect">
            <a:avLst/>
          </a:prstGeom>
          <a:solidFill>
            <a:srgbClr val="F7F2EA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18" name="Text 13"/>
          <p:cNvSpPr txBox="1"/>
          <p:nvPr/>
        </p:nvSpPr>
        <p:spPr>
          <a:xfrm>
            <a:off x="3383280" y="27523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4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situation du quotidien</a:t>
            </a:r>
            <a:endParaRPr lang="en-US" sz="750" dirty="0"/>
          </a:p>
        </p:txBody>
      </p:sp>
      <p:pic>
        <p:nvPicPr>
          <p:cNvPr id="19" name="Image 3" descr="img/life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2834640" y="2770632"/>
            <a:ext cx="502920" cy="53035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3429000"/>
            <a:ext cx="3749040" cy="109728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à main S01 – neuf – [couleur] – [format]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: [à définir selon coûts et concurrence] · Neuf</a:t>
            </a:r>
            <a:endParaRPr lang="en-US" sz="9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: [à mesurer] · Matière : [à vérifier] · État : neuf. Envoi : [mode et délai]. Questions bienvenues.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solidFill>
            <a:srgbClr val="9C8B78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LEBONCOIN — annonce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4846320" y="1508760"/>
            <a:ext cx="2148840" cy="1828800"/>
          </a:xfrm>
          <a:prstGeom prst="rect">
            <a:avLst/>
          </a:prstGeom>
          <a:solidFill>
            <a:srgbClr val="E6D9C6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b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large, fond clair (ÉLÉGANCE)</a:t>
            </a:r>
            <a:endParaRPr lang="en-US" sz="800" dirty="0"/>
          </a:p>
        </p:txBody>
      </p:sp>
      <p:pic>
        <p:nvPicPr>
          <p:cNvPr id="24" name="Image 4" descr="img/clos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46320" y="1508760"/>
            <a:ext cx="2148840" cy="1481328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086600" y="1508760"/>
            <a:ext cx="1508760" cy="566928"/>
          </a:xfrm>
          <a:prstGeom prst="rect">
            <a:avLst/>
          </a:prstGeom>
          <a:solidFill>
            <a:srgbClr val="F7F2EA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6" name="Text 19"/>
          <p:cNvSpPr txBox="1"/>
          <p:nvPr/>
        </p:nvSpPr>
        <p:spPr>
          <a:xfrm>
            <a:off x="7680960" y="150876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2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avec mètre (PRATIQUE)</a:t>
            </a:r>
            <a:endParaRPr lang="en-US" sz="750" dirty="0"/>
          </a:p>
        </p:txBody>
      </p:sp>
      <p:pic>
        <p:nvPicPr>
          <p:cNvPr id="27" name="Image 5" descr="img/dims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132320" y="1527048"/>
            <a:ext cx="502920" cy="53035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86600" y="2130552"/>
            <a:ext cx="1508760" cy="566928"/>
          </a:xfrm>
          <a:prstGeom prst="rect">
            <a:avLst/>
          </a:prstGeom>
          <a:solidFill>
            <a:srgbClr val="F7F2EA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9" name="Text 21"/>
          <p:cNvSpPr txBox="1"/>
          <p:nvPr/>
        </p:nvSpPr>
        <p:spPr>
          <a:xfrm>
            <a:off x="7680960" y="213055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3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Rangement : intérieur / poches</a:t>
            </a:r>
            <a:endParaRPr lang="en-US" sz="750" dirty="0"/>
          </a:p>
        </p:txBody>
      </p:sp>
      <p:pic>
        <p:nvPicPr>
          <p:cNvPr id="30" name="Image 6" descr="img/open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132320" y="2148840"/>
            <a:ext cx="502920" cy="53035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7086600" y="2752344"/>
            <a:ext cx="1508760" cy="566928"/>
          </a:xfrm>
          <a:prstGeom prst="rect">
            <a:avLst/>
          </a:prstGeom>
          <a:solidFill>
            <a:srgbClr val="F7F2EA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32" name="Text 23"/>
          <p:cNvSpPr txBox="1"/>
          <p:nvPr/>
        </p:nvSpPr>
        <p:spPr>
          <a:xfrm>
            <a:off x="7680960" y="27523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4</a:t>
            </a:r>
            <a:endParaRPr lang="en-US" sz="750" dirty="0"/>
          </a:p>
          <a:p>
            <a:pPr algn="l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quotidienne</a:t>
            </a:r>
            <a:endParaRPr lang="en-US" sz="750" dirty="0"/>
          </a:p>
        </p:txBody>
      </p:sp>
      <p:pic>
        <p:nvPicPr>
          <p:cNvPr id="33" name="Image 7" descr="img/life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132320" y="2770632"/>
            <a:ext cx="502920" cy="53035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4846320" y="3429000"/>
            <a:ext cx="3749040" cy="109728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à main femme neuf S01 – [couleur]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: [à définir] · Neuf · Envoi ou remise en main propre</a:t>
            </a:r>
            <a:endParaRPr lang="en-US" sz="9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plus détaillée : dimensions réelles, matière vérifiée, ce qu’il contient bien, livraison, retours. Renvoi vers la boutique My Line Collection.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produit, trois angles : S01 en versions A, B et C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angles sont des hypothèses : on publie, on mesure, on garde ce qui vend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4/12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2651760" cy="32004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Style et élégance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651760" cy="68580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porté avec une tenue, plan taille, lumière douce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sac élégant pour compléter une tenue 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: porté, couleur, finitions, avec accessoire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surveiller : Favoris, visites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1143000"/>
            <a:ext cx="2651760" cy="32004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Praticité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463040"/>
            <a:ext cx="2651760" cy="68580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ouvert avec téléphone, portefeuille, clés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91840" y="21488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sac pratique pour transporter ses essentiels 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: intérieur, dimensions, rangement, courte vidéo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surveiller : Questions sur capacité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126480" y="1143000"/>
            <a:ext cx="2651760" cy="32004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Usage quotidien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2651760" cy="68580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CLÉ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sac au bureau, en courses, en sortie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26480" y="214884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Un sac polyvalent pour le quotidien »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: 3 situations, porté épaule et main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surveiller : Commandes payées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29184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S01 · Résultats (à remplir)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Retours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vues sans commande n’est pas un succès. Un angle ne gagne qu’après plusieurs jours de données, sur les mêmes conditions de prix.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angles de photos à utiliser, d’après les repères du marché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 grandeur issu de sources sectorielles (e-commerce mode), non mesuré sur Vinted ni Leboncoin : à confirmer par vos propres tests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5/12</a:t>
            </a:r>
            <a:endParaRPr lang="en-US" sz="800" dirty="0"/>
          </a:p>
        </p:txBody>
      </p:sp>
      <p:pic>
        <p:nvPicPr>
          <p:cNvPr id="7" name="Image 0" descr="img/clos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43000"/>
            <a:ext cx="155448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057400"/>
            <a:ext cx="1554480" cy="256032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Vue de face</a:t>
            </a:r>
            <a:endParaRPr lang="en-US" sz="900" dirty="0"/>
          </a:p>
        </p:txBody>
      </p:sp>
      <p:pic>
        <p:nvPicPr>
          <p:cNvPr id="9" name="Image 1" descr="img/op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121408" y="1143000"/>
            <a:ext cx="1554480" cy="9144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121408" y="2057400"/>
            <a:ext cx="1554480" cy="256032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Sac ouvert + contenu</a:t>
            </a:r>
            <a:endParaRPr lang="en-US" sz="900" dirty="0"/>
          </a:p>
        </p:txBody>
      </p:sp>
      <p:pic>
        <p:nvPicPr>
          <p:cNvPr id="11" name="Image 2" descr="img/detai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785616" y="1143000"/>
            <a:ext cx="1554480" cy="9144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85616" y="2057400"/>
            <a:ext cx="1554480" cy="256032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Détail matière</a:t>
            </a:r>
            <a:endParaRPr lang="en-US" sz="900" dirty="0"/>
          </a:p>
        </p:txBody>
      </p:sp>
      <p:pic>
        <p:nvPicPr>
          <p:cNvPr id="13" name="Image 3" descr="img/dims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449824" y="1143000"/>
            <a:ext cx="155448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449824" y="2057400"/>
            <a:ext cx="1554480" cy="256032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Dimensions</a:t>
            </a:r>
            <a:endParaRPr lang="en-US" sz="900" dirty="0"/>
          </a:p>
        </p:txBody>
      </p:sp>
      <p:pic>
        <p:nvPicPr>
          <p:cNvPr id="15" name="Image 4" descr="img/life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114032" y="1143000"/>
            <a:ext cx="1554480" cy="9144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114032" y="2057400"/>
            <a:ext cx="1554480" cy="256032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Mise en situation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49377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560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Repère (sources sectorielles)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Ordre de grandeur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Plusieurs photos plutôt qu’une seule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 à +30 % de conversion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 idéal de photos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à 7 (moins de 3 : risque ; plus de 8 : dilution)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Courte vidéo de 10 à 15 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 à +25 % cités ; jusqu’à +65 % selon d’autres sources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Retours mode en ligne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 à 30 % : photos fidèles = moins de déceptions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Acheteurs qui zooment sur les photos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43 % : soigner les gros plans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0"/>
          <p:cNvSpPr/>
          <p:nvPr/>
        </p:nvSpPr>
        <p:spPr>
          <a:xfrm>
            <a:off x="5577840" y="2468880"/>
            <a:ext cx="3108960" cy="2011680"/>
          </a:xfrm>
          <a:prstGeom prst="rect">
            <a:avLst/>
          </a:prstGeom>
          <a:solidFill>
            <a:srgbClr val="E6D9C6"/>
          </a:solidFill>
          <a:ln w="12700">
            <a:solidFill>
              <a:srgbClr val="E6D9C6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Conseils pratiques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1 propre et complète : elle décide du clic.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Montrer l’intérieur et son contenu : capacité = question fréquente.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Donner les vraies dimensions avec un repère.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plans de finitions, sans retouche trompeuse.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une courte vidéo sur Instagram / TikTok.</a:t>
            </a:r>
            <a:endParaRPr lang="en-US" sz="900" dirty="0"/>
          </a:p>
        </p:txBody>
      </p:sp>
      <p:sp>
        <p:nvSpPr>
          <p:cNvPr id="19" name="Text 1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chiffres viennent de sites spécialisés (conversion e-commerce mode), sans lien avec Vinted ou Leboncoin : ils servent d’hypothèses à vérifier avec vos résultats.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contenu, plusieurs usages, un prix rentable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Éviter de multiplier le travail ; vérifier la marge avant de pousser un produit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6/12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822960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143000"/>
            <a:ext cx="1554480" cy="45720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Élégance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 flipV="1">
            <a:off x="1280160" y="1371600"/>
            <a:ext cx="274320" cy="59436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108960" y="1371600"/>
            <a:ext cx="274320" cy="59436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554480" y="1737360"/>
            <a:ext cx="1554480" cy="45720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Praticité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280160" y="1965960"/>
            <a:ext cx="27432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108960" y="1965960"/>
            <a:ext cx="27432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554480" y="2331720"/>
            <a:ext cx="1554480" cy="45720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Quotidien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280160" y="1965960"/>
            <a:ext cx="274320" cy="59436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V="1">
            <a:off x="3108960" y="1965960"/>
            <a:ext cx="274320" cy="59436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383280" y="1143000"/>
            <a:ext cx="18288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Vidéo portée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réelles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Rangement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 plan matière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Prix et avantages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aux questions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12080" y="1965960"/>
            <a:ext cx="27432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86400" y="1143000"/>
            <a:ext cx="14630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Diffusion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Vinted · Leboncoin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49440" y="1965960"/>
            <a:ext cx="27432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223760" y="1143000"/>
            <a:ext cx="1463040" cy="160020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Réutiliser les contenus gagnants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du prix de vente (exemple de structure, sans chiffres réels)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3291840"/>
            <a:ext cx="1005840" cy="73152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fournisseur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485900" y="3291840"/>
            <a:ext cx="1005840" cy="73152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Transport, import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514600" y="3291840"/>
            <a:ext cx="1005840" cy="73152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Taxes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543300" y="3291840"/>
            <a:ext cx="1005840" cy="73152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Frais plateforme et paiement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0" y="3291840"/>
            <a:ext cx="1005840" cy="73152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Emballage, livraison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600700" y="3291840"/>
            <a:ext cx="1005840" cy="73152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6629400" y="3291840"/>
            <a:ext cx="1005840" cy="73152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d’acquisition client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658100" y="3291840"/>
            <a:ext cx="1005840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</a:t>
            </a:r>
            <a:endParaRPr lang="en-US" sz="8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doit rester cohérent avec les concurrents et la qualité réelle. Avec une commission d’affiliation, ajouter une case supplémentaire.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Structurer une annonce qui convertit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élément répond à une question que se pose la cliente avant d’écrire ou d’acheter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7/12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329184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pic>
        <p:nvPicPr>
          <p:cNvPr id="8" name="Image 0" descr="img/lif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34440"/>
            <a:ext cx="2103120" cy="1508760"/>
          </a:xfrm>
          <a:prstGeom prst="rect">
            <a:avLst/>
          </a:prstGeom>
        </p:spPr>
      </p:pic>
      <p:pic>
        <p:nvPicPr>
          <p:cNvPr id="9" name="Image 1" descr="img/ope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743200" y="1234440"/>
            <a:ext cx="914400" cy="713232"/>
          </a:xfrm>
          <a:prstGeom prst="rect">
            <a:avLst/>
          </a:prstGeom>
        </p:spPr>
      </p:pic>
      <p:pic>
        <p:nvPicPr>
          <p:cNvPr id="10" name="Image 2" descr="img/detail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743200" y="2029968"/>
            <a:ext cx="914400" cy="7132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8640" y="2880360"/>
            <a:ext cx="3108960" cy="822960"/>
          </a:xfrm>
          <a:prstGeom prst="rect">
            <a:avLst/>
          </a:prstGeom>
          <a:solidFill>
            <a:srgbClr val="F7F2EA"/>
          </a:solidFill>
          <a:ln w="12700">
            <a:solidFill>
              <a:srgbClr val="F7F2EA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à main S01 – neuf – [couleur]</a:t>
            </a:r>
            <a:endParaRPr lang="en-US" sz="900" dirty="0"/>
          </a:p>
          <a:p>
            <a:pPr algn="l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[Prix cohérent marché] · Neuf</a:t>
            </a:r>
            <a:endParaRPr lang="en-US" sz="9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· matière · état · livraison · retours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548640" y="3840480"/>
            <a:ext cx="3108960" cy="640080"/>
          </a:xfrm>
          <a:prstGeom prst="rect">
            <a:avLst/>
          </a:prstGeom>
          <a:solidFill>
            <a:srgbClr val="E6D9C6"/>
          </a:solidFill>
          <a:ln w="12700">
            <a:solidFill>
              <a:srgbClr val="E6D9C6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bienvenues · réponse rapide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1325880" y="1234440"/>
            <a:ext cx="256032" cy="256032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3108960" y="1417320"/>
            <a:ext cx="256032" cy="256032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3383280" y="2880360"/>
            <a:ext cx="256032" cy="256032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383280" y="3200400"/>
            <a:ext cx="256032" cy="256032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3383280" y="3520440"/>
            <a:ext cx="256032" cy="256032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3383280" y="3977640"/>
            <a:ext cx="256032" cy="256032"/>
          </a:xfrm>
          <a:prstGeom prst="ellipse">
            <a:avLst/>
          </a:prstGeom>
          <a:solidFill>
            <a:srgbClr val="2B2B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4023360" y="1143000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Photo principale — </a:t>
            </a:r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porté, fond clair, lumière naturelle : elle décide du clic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4023360" y="1728216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Photos 2 à 5 — </a:t>
            </a:r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Dimensions, intérieur, détail, mise en situation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4023360" y="2313432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Titre — </a:t>
            </a:r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couleur + format + « neuf » : les mots que la cliente cherche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4023360" y="2898648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Prix — </a:t>
            </a:r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Comparé aux concurrents et à la marge, jamais au hasard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4023360" y="3483864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Description — </a:t>
            </a:r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réelles, matière vérifiée, état, livraison, retours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4023360" y="4069080"/>
            <a:ext cx="466344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Appel doux — </a:t>
            </a:r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Inviter à poser ses questions ; répondre vite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Lire les chiffres : du nombre de vues à la décision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compare les versions entre elles, à prix et durée équivalents : pas de seuil magique universel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8/12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4023360" cy="493776"/>
          </a:xfrm>
          <a:prstGeom prst="rect">
            <a:avLst/>
          </a:prstGeom>
          <a:solidFill>
            <a:srgbClr val="E6D9C6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personnes voient l’annonce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8660" y="1709928"/>
            <a:ext cx="3520440" cy="493776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 / visites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ouvrent la fiche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60120" y="2276856"/>
            <a:ext cx="3017520" cy="493776"/>
          </a:xfrm>
          <a:prstGeom prst="rect">
            <a:avLst/>
          </a:prstGeom>
          <a:solidFill>
            <a:srgbClr val="E6D9C6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la gardent : désir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11580" y="2843784"/>
            <a:ext cx="2514600" cy="493776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 d’achat / messages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montrent une intention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63040" y="3410712"/>
            <a:ext cx="2011680" cy="493776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 payées</a:t>
            </a: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seule vraie validation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43000"/>
          <a:ext cx="40233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08760"/>
                <a:gridCol w="1325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 probable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B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Peu de vues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Mots du titre, publication peu visible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Retravailler titre, republier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Vues, peu de clics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 principale ou titre faibles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Tester une autre photo 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Clics, peu de favoris ou demandes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Prix, photos 2–5, description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Corriger une variable à la fois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Demandes, pas de commande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Prix, délai de réponse, confiance, livraison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Répondre vite, clarifier livraison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Commandes mais retours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Écart avec les photos ou la qualité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Corriger la fiche, vérifier le produit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C8B7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457200" y="4023360"/>
            <a:ext cx="8229600" cy="594360"/>
          </a:xfrm>
          <a:prstGeom prst="rect">
            <a:avLst/>
          </a:prstGeom>
          <a:solidFill>
            <a:srgbClr val="E6D9C6"/>
          </a:solidFill>
          <a:ln w="12700">
            <a:solidFill>
              <a:srgbClr val="E6D9C6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Ratios à suivre : </a:t>
            </a:r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clics ÷ vues (attrait) · favoris ÷ clics (désir) · demandes ÷ clics (intention) · commandes ÷ demandes (conclusion). Décision après un volume de données suffisant, ex. [seuil à fixer] : garder, modifier une seule variable, ou arrêter.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Amener les clientes vers la boutique en ligne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marketplaces servent à tester et à attirer ; le site reste le canal central de la marque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9/12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2011680" cy="45720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Annonces Vinted / Leboncoin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709928"/>
            <a:ext cx="2011680" cy="45720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TikTok · Facebook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926080" y="1143000"/>
            <a:ext cx="256032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d’entrée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· bio · réponse à une question · carte dans le colis après vente · publications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371600"/>
            <a:ext cx="457200" cy="9144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flipV="1">
            <a:off x="2468880" y="1828800"/>
            <a:ext cx="457200" cy="109728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0" y="1645920"/>
            <a:ext cx="36576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852160" y="1143000"/>
            <a:ext cx="2834640" cy="1024128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My Line Collection + offre d’accueil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246888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de bienvenue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−X % sur la 1re commande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21408" y="246888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Livraison offerte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X € d’achat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85616" y="246888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+ accessoire à prix réduit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49824" y="246888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 de reprise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ancien sac contre crédit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114032" y="2468880"/>
            <a:ext cx="15544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fidélité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dans le colis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d’offres : X à fixer selon la marge réelle ; jamais de prix gonflé pour simuler une remise.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solidFill>
            <a:srgbClr val="E6D9C6"/>
          </a:solidFill>
          <a:ln w="12700">
            <a:solidFill>
              <a:srgbClr val="E6D9C6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vérifier avant : </a:t>
            </a:r>
            <a:pPr algn="l" indent="0" marL="0">
              <a:buNone/>
            </a:pPr>
            <a:r>
              <a:rPr lang="en-US" sz="9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règles de chaque plateforme sur les liens, coordonnées et sorties de plateforme. Utiliser les emplacements autorisés ; sinon, passer par les réseaux sociaux et le colis.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Reprise : transformer un ancien sac en nouvelle commande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Expérimentation parallèle — non validée commercialement, ne retarde pas les ventes de neuf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10/12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188720"/>
            <a:ext cx="14813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Soumission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marque, état, photos, défauts. Estimation IA indicative à terme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938528" y="2057400"/>
            <a:ext cx="18288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2121408" y="1188720"/>
            <a:ext cx="14813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Prévalidation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 conditionnelle, instructions d’envoi, transport et coût définis avant l’envoi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02736" y="2057400"/>
            <a:ext cx="18288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785616" y="1188720"/>
            <a:ext cx="14813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Réception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humain, photos, comparaison avec le dossier, confirmation ou révision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66944" y="2057400"/>
            <a:ext cx="18288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449824" y="1188720"/>
            <a:ext cx="1481328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Crédit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Accordé après acceptation, utilisable sur neufs et accessoires admissibles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931152" y="2057400"/>
            <a:ext cx="18288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114032" y="1188720"/>
            <a:ext cx="1481328" cy="1737360"/>
          </a:xfrm>
          <a:prstGeom prst="rect">
            <a:avLst/>
          </a:prstGeom>
          <a:solidFill>
            <a:srgbClr val="6D1F2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Commande neuve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Achat avec crédit déduit : acquisition et fidélisation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4023360" cy="100584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illustratif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 neuf 50 € − crédit 10 € = 40 € payés (hors frais). Le prix affiché reste justifié par le marché : aucune remise artificielle.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3200400"/>
            <a:ext cx="40233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à fixer avant lancement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d’acceptation · estimation non ferme · transport maîtrisé (pas de frais disproportionnés) · refus : retour, coût, délais · validité du crédit · cadre légal et données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 seconde vie pour les sacs collectés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Filière seconde main séparée du catalogue My Line Collection (neuf uniquement)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11/12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63040" y="1143000"/>
            <a:ext cx="2011680" cy="54864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Sacs collectés (ID, photos, état)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548640" cy="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023360" y="1143000"/>
            <a:ext cx="2011680" cy="54864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qualité et tri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Revente individuelle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Inspection, photos, description honnête, prix, vente : maximiser la recette unitaire (Vinted dans le cadre permis, Leboncoin)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 flipH="1">
            <a:off x="1783080" y="1691640"/>
            <a:ext cx="3246120" cy="41148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3246120" y="21031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Lots pour revendeurs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Tri, lots clairs, ex. 5 € / sac (hypothèse à valider) : gagner du temps, écouler vite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 flipH="1">
            <a:off x="4572000" y="1691640"/>
            <a:ext cx="457200" cy="41148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6035040" y="2103120"/>
            <a:ext cx="26517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· Non commercialisables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Réemploi, don ou filière identifiée : pas de stockage sans issue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1691640"/>
            <a:ext cx="2331720" cy="411480"/>
          </a:xfrm>
          <a:prstGeom prst="line">
            <a:avLst/>
          </a:prstGeom>
          <a:noFill/>
          <a:ln w="19050">
            <a:solidFill>
              <a:srgbClr val="9C8B78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57200" y="3429000"/>
            <a:ext cx="4937760" cy="1097280"/>
          </a:xfrm>
          <a:prstGeom prst="rect">
            <a:avLst/>
          </a:prstGeom>
          <a:solidFill>
            <a:srgbClr val="E6D9C6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du programme =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 additionnelle des ventes de neuf + recettes de revente − coûts (crédits, transport, contrôle, nettoyage, stockage, frais plateformes, invendus, litiges). Ne pas compter le crédit deux fois.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3429000"/>
            <a:ext cx="31089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du pilote (10–20 sacs)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Demandes, sacs reçus, % acceptés, coût moyen, crédits utilisés, conversion en neuf, prix et délai de revente, unité vs lots, invendus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d’action : du test au développement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67665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indicatif, en périodes relatives ; passage à l’étape suivante selon critères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201168"/>
            <a:ext cx="164592" cy="73152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C19A6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0" y="4846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C8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LINE COLLECTION  ·  12/12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417320" y="1097280"/>
            <a:ext cx="1783080" cy="32004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Préparation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417320" y="14630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Positionnement, inventaire, qualité, coûts complets, prix concurrents, fiches, visuels, suivi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fiches + tableur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: marges cibles atteignables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46120" y="1097280"/>
            <a:ext cx="1783080" cy="32004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Tests de marché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46120" y="14630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Publier sur Vinted, Leboncoin, vidéos courtes ; tester angles ; mesurer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classement par produit / canal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: signaux d’intérêt + commandes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074920" y="1097280"/>
            <a:ext cx="1783080" cy="32004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Optimisation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74920" y="14630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Garder les gagnants, améliorer contenus, petits budgets pub, vérifier fournisseur et délais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coût d’acquisition vs marge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: demande + marge + qualité OK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903720" y="1097280"/>
            <a:ext cx="1783080" cy="320040"/>
          </a:xfrm>
          <a:prstGeom prst="rect">
            <a:avLst/>
          </a:prstGeom>
          <a:solidFill>
            <a:srgbClr val="C19A6B"/>
          </a:solidFill>
          <a:ln w="12700">
            <a:solidFill>
              <a:srgbClr val="C19A6B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Développement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03720" y="1463040"/>
            <a:ext cx="17830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9C8B78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Réappro. progressif (trésorerie, risque de surstock), canaux rentables, affiliation, TikTok Shop, Europe</a:t>
            </a:r>
            <a:endParaRPr lang="en-US" sz="850" dirty="0"/>
          </a:p>
          <a:p>
            <a:pPr algn="l" indent="0" marL="0">
              <a:buNone/>
            </a:pPr>
            <a:r>
              <a:rPr lang="en-US" sz="850" b="1" dirty="0">
                <a:solidFill>
                  <a:srgbClr val="6D1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Livrable : plan de stock</a:t>
            </a:r>
            <a:endParaRPr lang="en-US" sz="850" dirty="0"/>
          </a:p>
          <a:p>
            <a:pPr algn="l" indent="0" marL="0">
              <a:buNone/>
            </a:pPr>
            <a:r>
              <a:rPr lang="en-US" sz="85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étendre ou ajuster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365760" y="1463040"/>
            <a:ext cx="1005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principale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65760" y="3383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1F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de reprise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417320" y="3383280"/>
            <a:ext cx="4846320" cy="548640"/>
          </a:xfrm>
          <a:prstGeom prst="rect">
            <a:avLst/>
          </a:prstGeom>
          <a:solidFill>
            <a:srgbClr val="E6D9C6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 légal → conditions, formulaire, grille → transport → pilote 10–20 sacs (4–6 sem., France)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55080" y="3383280"/>
            <a:ext cx="2331720" cy="548640"/>
          </a:xfrm>
          <a:prstGeom prst="rect">
            <a:avLst/>
          </a:prstGeom>
          <a:solidFill>
            <a:srgbClr val="6D1F2F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: continuer, ajuster ou suspendre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4114800"/>
            <a:ext cx="2697480" cy="457200"/>
          </a:xfrm>
          <a:prstGeom prst="rect">
            <a:avLst/>
          </a:prstGeom>
          <a:solidFill>
            <a:srgbClr val="F7F2EA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Valider produits et rentabilité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46120" y="4114800"/>
            <a:ext cx="2697480" cy="457200"/>
          </a:xfrm>
          <a:prstGeom prst="rect">
            <a:avLst/>
          </a:prstGeom>
          <a:solidFill>
            <a:srgbClr val="F7F2EA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Développer les canaux qui fonctionnent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4114800"/>
            <a:ext cx="2697480" cy="457200"/>
          </a:xfrm>
          <a:prstGeom prst="rect">
            <a:avLst/>
          </a:prstGeom>
          <a:solidFill>
            <a:srgbClr val="F7F2EA"/>
          </a:solidFill>
          <a:ln w="12700">
            <a:solidFill>
              <a:srgbClr val="6D1F2F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Tester la reprise avant de l’industrialiser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2026-10-18T14:26:27Z</dcterms:created>
  <dcterms:modified xsi:type="dcterms:W3CDTF">2026-10-18T14:26:27Z</dcterms:modified>
</cp:coreProperties>
</file>